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6678431" cy="10618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 dirty="0">
                <a:solidFill>
                  <a:srgbClr val="FFFFFF"/>
                </a:solidFill>
                <a:latin typeface="Algerian" panose="04020705040A02060702" pitchFamily="82" charset="0"/>
              </a:rPr>
              <a:t>NEWS AGGREGATOR</a:t>
            </a:r>
          </a:p>
          <a:p>
            <a:r>
              <a:rPr sz="1900" dirty="0">
                <a:solidFill>
                  <a:srgbClr val="BED7E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 modern platform for discovering and organizing news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017520"/>
            <a:ext cx="1143000" cy="73152"/>
          </a:xfrm>
          <a:prstGeom prst="rect">
            <a:avLst/>
          </a:prstGeom>
          <a:solidFill>
            <a:srgbClr val="237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3337560"/>
            <a:ext cx="6316409" cy="23237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dirty="0">
                <a:solidFill>
                  <a:srgbClr val="FFFFFF"/>
                </a:solidFill>
                <a:latin typeface="Agency FB" panose="020B0503020202020204" pitchFamily="34" charset="0"/>
              </a:rPr>
              <a:t>7-Slide Project Presentation</a:t>
            </a:r>
          </a:p>
          <a:p>
            <a:r>
              <a:rPr sz="2400" dirty="0">
                <a:solidFill>
                  <a:srgbClr val="BED7EC"/>
                </a:solidFill>
                <a:latin typeface="Agency FB" panose="020B0503020202020204" pitchFamily="34" charset="0"/>
              </a:rPr>
              <a:t>Homepage • Categories • News Discovery • User Accounts</a:t>
            </a:r>
            <a:endParaRPr lang="en-IN" sz="2400" dirty="0">
              <a:solidFill>
                <a:srgbClr val="BED7EC"/>
              </a:solidFill>
              <a:latin typeface="Agency FB" panose="020B0503020202020204" pitchFamily="34" charset="0"/>
            </a:endParaRPr>
          </a:p>
          <a:p>
            <a:endParaRPr lang="en-IN" sz="1300" dirty="0">
              <a:solidFill>
                <a:srgbClr val="BED7EC"/>
              </a:solidFill>
            </a:endParaRPr>
          </a:p>
          <a:p>
            <a:r>
              <a:rPr lang="en-IN" sz="2800" dirty="0">
                <a:solidFill>
                  <a:srgbClr val="BED7EC"/>
                </a:solidFill>
                <a:latin typeface="Bodoni MT Black" panose="02070A03080606020203" pitchFamily="18" charset="0"/>
              </a:rPr>
              <a:t>ID – 2500040025</a:t>
            </a:r>
          </a:p>
          <a:p>
            <a:r>
              <a:rPr lang="en-IN" sz="2800" dirty="0">
                <a:solidFill>
                  <a:srgbClr val="BED7EC"/>
                </a:solidFill>
                <a:latin typeface="Bodoni MT Black" panose="02070A03080606020203" pitchFamily="18" charset="0"/>
              </a:rPr>
              <a:t>ID – 2500040018 ( Team Leader)</a:t>
            </a:r>
          </a:p>
          <a:p>
            <a:r>
              <a:rPr lang="en-IN" sz="2800" dirty="0">
                <a:solidFill>
                  <a:srgbClr val="BED7EC"/>
                </a:solidFill>
                <a:latin typeface="Bodoni MT Black" panose="02070A03080606020203" pitchFamily="18" charset="0"/>
              </a:rPr>
              <a:t>ID – 2500040035 </a:t>
            </a:r>
            <a:endParaRPr sz="2800" dirty="0">
              <a:solidFill>
                <a:srgbClr val="BED7EC"/>
              </a:solidFill>
              <a:latin typeface="Bodoni MT Black" panose="02070A030806060202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6519672"/>
            <a:ext cx="10927080" cy="13716"/>
          </a:xfrm>
          <a:prstGeom prst="rect">
            <a:avLst/>
          </a:prstGeom>
          <a:solidFill>
            <a:srgbClr val="D6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56248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C7A"/>
                </a:solidFill>
              </a:rP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0314E"/>
                </a:solidFill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6C7A"/>
                </a:solidFill>
              </a:rPr>
              <a:t>What the News Aggregator is designed to 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4663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82880" rtlCol="0" anchor="ctr"/>
          <a:lstStyle/>
          <a:p>
            <a:pPr algn="ctr">
              <a:defRPr sz="1700" b="1">
                <a:solidFill>
                  <a:srgbClr val="10314E"/>
                </a:solidFill>
              </a:defRPr>
            </a:pPr>
            <a:r>
              <a:t>Core Purpose</a:t>
            </a:r>
          </a:p>
          <a:p>
            <a:pPr>
              <a:spcBef>
                <a:spcPts val="800"/>
              </a:spcBef>
              <a:defRPr sz="1400">
                <a:solidFill>
                  <a:srgbClr val="1C2733"/>
                </a:solidFill>
              </a:defRPr>
            </a:pPr>
            <a:r>
              <a:t>Collect and present news topics in a single interface.</a:t>
            </a:r>
          </a:p>
          <a:p>
            <a:pPr>
              <a:spcBef>
                <a:spcPts val="800"/>
              </a:spcBef>
              <a:defRPr sz="1400">
                <a:solidFill>
                  <a:srgbClr val="1C2733"/>
                </a:solidFill>
              </a:defRPr>
            </a:pPr>
            <a:r>
              <a:t>Give users fast access to trending and latest stories.</a:t>
            </a:r>
          </a:p>
          <a:p>
            <a:pPr>
              <a:spcBef>
                <a:spcPts val="800"/>
              </a:spcBef>
              <a:defRPr sz="1400">
                <a:solidFill>
                  <a:srgbClr val="1C2733"/>
                </a:solidFill>
              </a:defRPr>
            </a:pPr>
            <a:r>
              <a:t>Organize content into clear categories such as Technology, Sports, Education and Entertainment.</a:t>
            </a:r>
          </a:p>
          <a:p>
            <a:pPr>
              <a:spcBef>
                <a:spcPts val="800"/>
              </a:spcBef>
              <a:defRPr sz="1400">
                <a:solidFill>
                  <a:srgbClr val="1C2733"/>
                </a:solidFill>
              </a:defRPr>
            </a:pPr>
            <a:r>
              <a:t>Provide account creation for a more personalized experience.</a:t>
            </a:r>
          </a:p>
          <a:p>
            <a:pPr>
              <a:spcBef>
                <a:spcPts val="800"/>
              </a:spcBef>
              <a:defRPr sz="1400">
                <a:solidFill>
                  <a:srgbClr val="1C2733"/>
                </a:solidFill>
              </a:defRPr>
            </a:pPr>
            <a:r>
              <a:t>Keep navigation simple so users can move from discovery to reading with minimal friction.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0" y="1417320"/>
            <a:ext cx="56692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/>
            <a:r>
              <a:rPr sz="1600" b="1">
                <a:solidFill>
                  <a:srgbClr val="237ED3"/>
                </a:solidFill>
              </a:rPr>
              <a:t>Trending</a:t>
            </a:r>
          </a:p>
          <a:p>
            <a:r>
              <a:rPr sz="1150">
                <a:solidFill>
                  <a:srgbClr val="5C6C7A"/>
                </a:solidFill>
              </a:rPr>
              <a:t>Surface topics that are currently attracting attention.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0" y="2496312"/>
            <a:ext cx="56692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/>
            <a:r>
              <a:rPr sz="1600" b="1">
                <a:solidFill>
                  <a:srgbClr val="237ED3"/>
                </a:solidFill>
              </a:rPr>
              <a:t>Latest News</a:t>
            </a:r>
          </a:p>
          <a:p>
            <a:r>
              <a:rPr sz="1150">
                <a:solidFill>
                  <a:srgbClr val="5C6C7A"/>
                </a:solidFill>
              </a:rPr>
              <a:t>Present fresh stories in a compact feed.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3575304"/>
            <a:ext cx="56692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/>
            <a:r>
              <a:rPr sz="1600" b="1">
                <a:solidFill>
                  <a:srgbClr val="237ED3"/>
                </a:solidFill>
              </a:rPr>
              <a:t>Categories</a:t>
            </a:r>
          </a:p>
          <a:p>
            <a:r>
              <a:rPr sz="1150">
                <a:solidFill>
                  <a:srgbClr val="5C6C7A"/>
                </a:solidFill>
              </a:rPr>
              <a:t>Let users browse news by subject.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4654296"/>
            <a:ext cx="56692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/>
            <a:r>
              <a:rPr sz="1600" b="1">
                <a:solidFill>
                  <a:srgbClr val="237ED3"/>
                </a:solidFill>
              </a:rPr>
              <a:t>Accounts</a:t>
            </a:r>
          </a:p>
          <a:p>
            <a:r>
              <a:rPr sz="1150">
                <a:solidFill>
                  <a:srgbClr val="5C6C7A"/>
                </a:solidFill>
              </a:rPr>
              <a:t>Support sign-up and personalized experiences.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519672"/>
            <a:ext cx="10927080" cy="13716"/>
          </a:xfrm>
          <a:prstGeom prst="rect">
            <a:avLst/>
          </a:prstGeom>
          <a:solidFill>
            <a:srgbClr val="D6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0" y="6556248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C7A"/>
                </a:solidFill>
              </a:rP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314E"/>
                </a:solidFill>
              </a:rPr>
              <a:t>Homepage &amp; News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6C7A"/>
                </a:solidFill>
              </a:rPr>
              <a:t>The landing page combines search, trending topics and latest stories</a:t>
            </a:r>
          </a:p>
        </p:txBody>
      </p:sp>
      <p:pic>
        <p:nvPicPr>
          <p:cNvPr id="5" name="Picture 4" descr="b5143b8d-3da8-415c-9ecb-09dbf14e47f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10972800" cy="399821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5440680"/>
            <a:ext cx="2331720" cy="530352"/>
          </a:xfrm>
          <a:prstGeom prst="roundRect">
            <a:avLst/>
          </a:prstGeom>
          <a:solidFill>
            <a:srgbClr val="10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Homepage interface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9672"/>
            <a:ext cx="10927080" cy="13716"/>
          </a:xfrm>
          <a:prstGeom prst="rect">
            <a:avLst/>
          </a:prstGeom>
          <a:solidFill>
            <a:srgbClr val="D6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0" y="6556248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C7A"/>
                </a:solidFill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314E"/>
                </a:solidFill>
              </a:rPr>
              <a:t>Main Interface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6C7A"/>
                </a:solidFill>
              </a:rPr>
              <a:t>How the homepage is structured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09728" rtlCol="0" anchor="ctr"/>
          <a:lstStyle/>
          <a:p>
            <a:pPr algn="ctr"/>
            <a:r>
              <a:rPr sz="1500" b="1">
                <a:solidFill>
                  <a:srgbClr val="10314E"/>
                </a:solidFill>
              </a:rPr>
              <a:t>Navigation Bar</a:t>
            </a:r>
          </a:p>
          <a:p>
            <a:r>
              <a:rPr sz="1150">
                <a:solidFill>
                  <a:srgbClr val="5C6C7A"/>
                </a:solidFill>
              </a:rPr>
              <a:t>Logo, search, Home, Latest, Categories, Admin and Login.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1732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09728" rtlCol="0" anchor="ctr"/>
          <a:lstStyle/>
          <a:p>
            <a:pPr algn="ctr"/>
            <a:r>
              <a:rPr sz="1500" b="1">
                <a:solidFill>
                  <a:srgbClr val="10314E"/>
                </a:solidFill>
              </a:rPr>
              <a:t>Hero Section</a:t>
            </a:r>
          </a:p>
          <a:p>
            <a:r>
              <a:rPr sz="1150">
                <a:solidFill>
                  <a:srgbClr val="5C6C7A"/>
                </a:solidFill>
              </a:rPr>
              <a:t>Introduces the platform and provides direct actions such as Explore News.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83464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09728" rtlCol="0" anchor="ctr"/>
          <a:lstStyle/>
          <a:p>
            <a:pPr algn="ctr"/>
            <a:r>
              <a:rPr sz="1500" b="1">
                <a:solidFill>
                  <a:srgbClr val="10314E"/>
                </a:solidFill>
              </a:rPr>
              <a:t>Trending Today</a:t>
            </a:r>
          </a:p>
          <a:p>
            <a:r>
              <a:rPr sz="1150">
                <a:solidFill>
                  <a:srgbClr val="5C6C7A"/>
                </a:solidFill>
              </a:rPr>
              <a:t>Highlights major topics across different categories.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83464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09728" rtlCol="0" anchor="ctr"/>
          <a:lstStyle/>
          <a:p>
            <a:pPr algn="ctr"/>
            <a:r>
              <a:rPr sz="1500" b="1">
                <a:solidFill>
                  <a:srgbClr val="10314E"/>
                </a:solidFill>
              </a:rPr>
              <a:t>Latest News</a:t>
            </a:r>
          </a:p>
          <a:p>
            <a:r>
              <a:rPr sz="1150">
                <a:solidFill>
                  <a:srgbClr val="5C6C7A"/>
                </a:solidFill>
              </a:rPr>
              <a:t>Shows fresh stories in a compact, scannable layout.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25196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09728" rtlCol="0" anchor="ctr"/>
          <a:lstStyle/>
          <a:p>
            <a:pPr algn="ctr"/>
            <a:r>
              <a:rPr sz="1500" b="1">
                <a:solidFill>
                  <a:srgbClr val="10314E"/>
                </a:solidFill>
              </a:rPr>
              <a:t>Browse Categories</a:t>
            </a:r>
          </a:p>
          <a:p>
            <a:r>
              <a:rPr sz="1150">
                <a:solidFill>
                  <a:srgbClr val="5C6C7A"/>
                </a:solidFill>
              </a:rPr>
              <a:t>Provides category-level navigation for focused discovery.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25196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09728" rtlCol="0" anchor="ctr"/>
          <a:lstStyle/>
          <a:p>
            <a:pPr algn="ctr"/>
            <a:r>
              <a:rPr sz="1500" b="1">
                <a:solidFill>
                  <a:srgbClr val="10314E"/>
                </a:solidFill>
              </a:rPr>
              <a:t>Footer</a:t>
            </a:r>
          </a:p>
          <a:p>
            <a:r>
              <a:rPr sz="1150">
                <a:solidFill>
                  <a:srgbClr val="5C6C7A"/>
                </a:solidFill>
              </a:rPr>
              <a:t>Reinforces platform identity and basic site information.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519672"/>
            <a:ext cx="10927080" cy="13716"/>
          </a:xfrm>
          <a:prstGeom prst="rect">
            <a:avLst/>
          </a:prstGeom>
          <a:solidFill>
            <a:srgbClr val="D6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0" y="6556248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C7A"/>
                </a:solidFill>
              </a:rP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314E"/>
                </a:solidFill>
              </a:rPr>
              <a:t>Categories &amp; Content Organization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6C7A"/>
                </a:solidFill>
              </a:rPr>
              <a:t>The category structure makes a broad news feed easier to navigate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52578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783080"/>
            <a:ext cx="566928" cy="566928"/>
          </a:xfrm>
          <a:prstGeom prst="ellipse">
            <a:avLst/>
          </a:prstGeom>
          <a:solidFill>
            <a:srgbClr val="237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719072"/>
            <a:ext cx="397763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314E"/>
                </a:solidFill>
              </a:rPr>
              <a:t>Technology</a:t>
            </a:r>
          </a:p>
          <a:p>
            <a:r>
              <a:rPr sz="1150">
                <a:solidFill>
                  <a:srgbClr val="5C6C7A"/>
                </a:solidFill>
              </a:rPr>
              <a:t>Innovation, gadgets, AI and digital trends.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2578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537960" y="1783080"/>
            <a:ext cx="566928" cy="566928"/>
          </a:xfrm>
          <a:prstGeom prst="ellipse">
            <a:avLst/>
          </a:prstGeom>
          <a:solidFill>
            <a:srgbClr val="237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1719072"/>
            <a:ext cx="397763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314E"/>
                </a:solidFill>
              </a:rPr>
              <a:t>Sports</a:t>
            </a:r>
          </a:p>
          <a:p>
            <a:r>
              <a:rPr sz="1150">
                <a:solidFill>
                  <a:srgbClr val="5C6C7A"/>
                </a:solidFill>
              </a:rPr>
              <a:t>Matches, teams, athletes and sports updates.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520440"/>
            <a:ext cx="52578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14400" y="3840480"/>
            <a:ext cx="566928" cy="566928"/>
          </a:xfrm>
          <a:prstGeom prst="ellipse">
            <a:avLst/>
          </a:prstGeom>
          <a:solidFill>
            <a:srgbClr val="237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776472"/>
            <a:ext cx="397763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314E"/>
                </a:solidFill>
              </a:rPr>
              <a:t>Education</a:t>
            </a:r>
          </a:p>
          <a:p>
            <a:r>
              <a:rPr sz="1150">
                <a:solidFill>
                  <a:srgbClr val="5C6C7A"/>
                </a:solidFill>
              </a:rPr>
              <a:t>Learning, institutions and education opportunities.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520440"/>
            <a:ext cx="52578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537960" y="3840480"/>
            <a:ext cx="566928" cy="566928"/>
          </a:xfrm>
          <a:prstGeom prst="ellipse">
            <a:avLst/>
          </a:prstGeom>
          <a:solidFill>
            <a:srgbClr val="237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776472"/>
            <a:ext cx="397763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314E"/>
                </a:solidFill>
              </a:rPr>
              <a:t>Entertainment</a:t>
            </a:r>
          </a:p>
          <a:p>
            <a:r>
              <a:rPr sz="1150">
                <a:solidFill>
                  <a:srgbClr val="5C6C7A"/>
                </a:solidFill>
              </a:rPr>
              <a:t>Movies, media, culture and entertainment stories.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519672"/>
            <a:ext cx="10927080" cy="13716"/>
          </a:xfrm>
          <a:prstGeom prst="rect">
            <a:avLst/>
          </a:prstGeom>
          <a:solidFill>
            <a:srgbClr val="D6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0" y="6556248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C7A"/>
                </a:solidFill>
              </a:rPr>
              <a:t>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314E"/>
                </a:solidFill>
              </a:rPr>
              <a:t>User Registration &amp; Personalization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6C7A"/>
                </a:solidFill>
              </a:rPr>
              <a:t>The account page is designed to convert a visitor into a registered reader</a:t>
            </a:r>
          </a:p>
        </p:txBody>
      </p:sp>
      <p:pic>
        <p:nvPicPr>
          <p:cNvPr id="5" name="Picture 4" descr="b7dca3e8-5154-443d-9c99-6d46c8962d5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400800" cy="37020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0" y="1417320"/>
            <a:ext cx="41605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82880" rtlCol="0" anchor="ctr"/>
          <a:lstStyle/>
          <a:p>
            <a:pPr algn="ctr">
              <a:defRPr sz="1700" b="1">
                <a:solidFill>
                  <a:srgbClr val="10314E"/>
                </a:solidFill>
              </a:defRPr>
            </a:pPr>
            <a:r>
              <a:t>Registration Flow</a:t>
            </a:r>
          </a:p>
          <a:p>
            <a:pPr>
              <a:spcBef>
                <a:spcPts val="800"/>
              </a:spcBef>
              <a:defRPr sz="1400">
                <a:solidFill>
                  <a:srgbClr val="1C2733"/>
                </a:solidFill>
              </a:defRPr>
            </a:pPr>
            <a:r>
              <a:t>Full name and email identify the reader.</a:t>
            </a:r>
          </a:p>
          <a:p>
            <a:pPr>
              <a:spcBef>
                <a:spcPts val="800"/>
              </a:spcBef>
              <a:defRPr sz="1400">
                <a:solidFill>
                  <a:srgbClr val="1C2733"/>
                </a:solidFill>
              </a:defRPr>
            </a:pPr>
            <a:r>
              <a:t>Password and confirmation fields reduce entry errors.</a:t>
            </a:r>
          </a:p>
          <a:p>
            <a:pPr>
              <a:spcBef>
                <a:spcPts val="800"/>
              </a:spcBef>
              <a:defRPr sz="1400">
                <a:solidFill>
                  <a:srgbClr val="1C2733"/>
                </a:solidFill>
              </a:defRPr>
            </a:pPr>
            <a:r>
              <a:t>A clear Create Account action keeps the conversion path simple.</a:t>
            </a:r>
          </a:p>
          <a:p>
            <a:pPr>
              <a:spcBef>
                <a:spcPts val="800"/>
              </a:spcBef>
              <a:defRPr sz="1400">
                <a:solidFill>
                  <a:srgbClr val="1C2733"/>
                </a:solidFill>
              </a:defRPr>
            </a:pPr>
            <a:r>
              <a:t>Existing users can move directly to Login.</a:t>
            </a:r>
          </a:p>
          <a:p>
            <a:pPr>
              <a:spcBef>
                <a:spcPts val="800"/>
              </a:spcBef>
              <a:defRPr sz="1400">
                <a:solidFill>
                  <a:srgbClr val="1C2733"/>
                </a:solidFill>
              </a:defRPr>
            </a:pPr>
            <a:r>
              <a:t>The page communicates benefits: latest news, multiple categories and personalized experience.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9672"/>
            <a:ext cx="10927080" cy="13716"/>
          </a:xfrm>
          <a:prstGeom prst="rect">
            <a:avLst/>
          </a:prstGeom>
          <a:solidFill>
            <a:srgbClr val="D6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0" y="6556248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C7A"/>
                </a:solidFill>
              </a:rP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Conclusion &amp; Future Scope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508760"/>
            <a:ext cx="502920" cy="502920"/>
          </a:xfrm>
          <a:prstGeom prst="ellipse">
            <a:avLst/>
          </a:prstGeom>
          <a:solidFill>
            <a:srgbClr val="237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490472"/>
            <a:ext cx="9418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Current concept</a:t>
            </a:r>
          </a:p>
          <a:p>
            <a:r>
              <a:rPr sz="1150">
                <a:solidFill>
                  <a:srgbClr val="BED7EC"/>
                </a:solidFill>
              </a:rPr>
              <a:t>A clean news-discovery interface with search, trending stories, latest news and categories.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624328"/>
            <a:ext cx="502920" cy="502920"/>
          </a:xfrm>
          <a:prstGeom prst="ellipse">
            <a:avLst/>
          </a:prstGeom>
          <a:solidFill>
            <a:srgbClr val="237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606040"/>
            <a:ext cx="9418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User layer</a:t>
            </a:r>
          </a:p>
          <a:p>
            <a:r>
              <a:rPr sz="1150">
                <a:solidFill>
                  <a:srgbClr val="BED7EC"/>
                </a:solidFill>
              </a:rPr>
              <a:t>Account creation creates the foundation for personalization and saved preferences.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739896"/>
            <a:ext cx="502920" cy="502920"/>
          </a:xfrm>
          <a:prstGeom prst="ellipse">
            <a:avLst/>
          </a:prstGeom>
          <a:solidFill>
            <a:srgbClr val="237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721608"/>
            <a:ext cx="9418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Next step</a:t>
            </a:r>
          </a:p>
          <a:p>
            <a:r>
              <a:rPr sz="1150">
                <a:solidFill>
                  <a:srgbClr val="BED7EC"/>
                </a:solidFill>
              </a:rPr>
              <a:t>Connect the interface to real news APIs/database sources and implement authentication.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855464"/>
            <a:ext cx="502920" cy="502920"/>
          </a:xfrm>
          <a:prstGeom prst="ellipse">
            <a:avLst/>
          </a:prstGeom>
          <a:solidFill>
            <a:srgbClr val="237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4837176"/>
            <a:ext cx="9418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Future features</a:t>
            </a:r>
          </a:p>
          <a:p>
            <a:r>
              <a:rPr sz="1150">
                <a:solidFill>
                  <a:srgbClr val="BED7EC"/>
                </a:solidFill>
              </a:rPr>
              <a:t>Personalized feeds, bookmarks, notifications, admin moderation and analytics.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89788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519672"/>
            <a:ext cx="10927080" cy="13716"/>
          </a:xfrm>
          <a:prstGeom prst="rect">
            <a:avLst/>
          </a:prstGeom>
          <a:solidFill>
            <a:srgbClr val="D6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89920" y="6556248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C7A"/>
                </a:solidFill>
              </a:rPr>
              <a:t>7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436</Words>
  <Application>Microsoft Office PowerPoint</Application>
  <PresentationFormat>Widescreen</PresentationFormat>
  <Paragraphs>84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Agency FB</vt:lpstr>
      <vt:lpstr>Aharoni</vt:lpstr>
      <vt:lpstr>Algerian</vt:lpstr>
      <vt:lpstr>Arial</vt:lpstr>
      <vt:lpstr>Bodoni MT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Rᴀᴠɪ Rᴀmisetty</dc:creator>
  <cp:keywords/>
  <dc:description>generated using python-pptx</dc:description>
  <cp:lastModifiedBy>Rᴀᴠɪ Rᴀmisetty</cp:lastModifiedBy>
  <cp:revision>3</cp:revision>
  <dcterms:created xsi:type="dcterms:W3CDTF">2013-01-27T09:14:16Z</dcterms:created>
  <dcterms:modified xsi:type="dcterms:W3CDTF">2026-10-04T04:42:26Z</dcterms:modified>
  <cp:category/>
</cp:coreProperties>
</file>